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Team Details</a:t>
            </a:r>
          </a:p>
          <a:p/>
          <a:p>
            <a:r>
              <a:t>Team Name: Team Lapper</a:t>
            </a:r>
          </a:p>
          <a:p>
            <a:r>
              <a:t>Team Leader: Nawang Dorjay</a:t>
            </a:r>
          </a:p>
          <a:p>
            <a:r>
              <a:t>Members: Nawang Dorjay (ML/Backend), Team Members (Frontend, UI/UX, Data)</a:t>
            </a:r>
          </a:p>
          <a:p/>
          <a:p>
            <a:r>
              <a:t>UN SDG Alignment:</a:t>
            </a:r>
          </a:p>
          <a:p>
            <a:r>
              <a:t>• SDG 1 — No Poverty (Resource equity in crises)</a:t>
            </a:r>
          </a:p>
          <a:p>
            <a:r>
              <a:t>• SDG 11 — Sustainable Cities (Resilient communities)</a:t>
            </a:r>
          </a:p>
          <a:p>
            <a:r>
              <a:t>• SDG 17 — Partnerships for the Goals</a:t>
            </a:r>
          </a:p>
          <a:p/>
          <a:p>
            <a:r>
              <a:t>Problem Statement: During crises, traditional NGO resource allocation is drastically inefficient — taking hours of manual labor to dispatch help. NGOs struggle to find vetted, accurately skilled volunteers in their immediate geographical radius. Lapper solves this life-saving bottleneck using Hybrid AI.</a:t>
            </a: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Lapper: Smart Resource Allocation Engine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The Crisis:</a:t>
            </a:r>
          </a:p>
          <a:p>
            <a:pPr>
              <a:defRPr sz="1500"/>
            </a:pPr>
            <a:r>
              <a:t>During the 2023 Turkey earthquake, NGOs reported 4+ hour delays in mobilizing volunteers. Manual dispatching costs lives in time-critical disasters.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The Solution:</a:t>
            </a:r>
          </a:p>
          <a:p>
            <a:pPr>
              <a:defRPr sz="1500"/>
            </a:pPr>
            <a:r>
              <a:t>Lapper is a production-ready, full-stack AI platform designed to intelligently pair vetted volunteers with real-time NGO crisis requests — reducing allocation time from hours to milliseconds.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How It Works:</a:t>
            </a:r>
          </a:p>
          <a:p>
            <a:pPr>
              <a:defRPr sz="1500"/>
            </a:pPr>
            <a:r>
              <a:t>Our hybrid AI engine uses Scikit-learn's Logistic Regression to evaluate volunteers across 5 dimensions: Skill Overlap, Proximity, Urgency, Availability, and Experience. Google Gemini then translates these scores into transparent, human-readable explanations — bridging the gap between ML output and administrative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TextBox 12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Market Opportunity &amp; Differentiation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Market Size: The global volunteer management market is $1.8B+ and growing at 12% YoY.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Why Existing Solutions Fail:</a:t>
            </a:r>
          </a:p>
          <a:p>
            <a:pPr lvl="1">
              <a:defRPr sz="1500"/>
            </a:pPr>
            <a:r>
              <a:t>• VolunteerHub, Better Impact: Rigid keyword filtering — no AI scoring</a:t>
            </a:r>
          </a:p>
          <a:p>
            <a:pPr lvl="1">
              <a:defRPr sz="1500"/>
            </a:pPr>
            <a:r>
              <a:t>• Google.org tools: No real-time ML matching pipeline</a:t>
            </a:r>
          </a:p>
          <a:p>
            <a:pPr lvl="1">
              <a:defRPr sz="1500"/>
            </a:pPr>
            <a:r>
              <a:t>• Manual NGO spreadsheets: Hours of delay; no geo-proximity awareness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Why Lapper Wins:</a:t>
            </a:r>
          </a:p>
          <a:p>
            <a:pPr lvl="1">
              <a:defRPr sz="1500"/>
            </a:pPr>
            <a:r>
              <a:t>• Hybrid ML + LLM: Only platform combining Logistic Regression with Gemini explanations</a:t>
            </a:r>
          </a:p>
          <a:p>
            <a:pPr lvl="1">
              <a:defRPr sz="1500"/>
            </a:pPr>
            <a:r>
              <a:t>• Speed: Sub-500ms match vs 4+ hours manual</a:t>
            </a:r>
          </a:p>
          <a:p>
            <a:pPr lvl="1">
              <a:defRPr sz="1500"/>
            </a:pPr>
            <a:r>
              <a:t>• Transparency: Every decision is explainable — critical for NGO accountability</a:t>
            </a:r>
          </a:p>
          <a:p>
            <a:pPr lvl="1">
              <a:defRPr sz="1500"/>
            </a:pPr>
            <a:r>
              <a:t>• Scalability: Docker + Cloud Run ready; scales to millions of volunteers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TextBox 128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Key Platform Features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⚡ Real-Time AI Dispatching</a:t>
            </a:r>
          </a:p>
          <a:p>
            <a:pPr>
              <a:defRPr sz="1500"/>
            </a:pPr>
            <a:r>
              <a:t>   Interactive dashboard updates constraints and volunteer statuses instantly.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🤖 Hybrid AI Scoring Engine</a:t>
            </a:r>
          </a:p>
          <a:p>
            <a:pPr>
              <a:defRPr sz="1500"/>
            </a:pPr>
            <a:r>
              <a:t>   Logistic Regression pipeline scores candidates across 5 critical features.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💡 Gemini Explainable AI</a:t>
            </a:r>
          </a:p>
          <a:p>
            <a:pPr>
              <a:defRPr sz="1500"/>
            </a:pPr>
            <a:r>
              <a:t>   Google Gemini 1.5 Flash generates transparent rationale for every match decision.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🗄️ Scalable Data Pipeline</a:t>
            </a:r>
          </a:p>
          <a:p>
            <a:pPr>
              <a:defRPr sz="1500"/>
            </a:pPr>
            <a:r>
              <a:t>   Python backend imports, cleans, and sanitizes thousands of volunteer records.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📊 Live Analytics Dashboard</a:t>
            </a:r>
          </a:p>
          <a:p>
            <a:pPr>
              <a:defRPr sz="1500"/>
            </a:pPr>
            <a:r>
              <a:t>   Charts show match success rates, regional coverage, and volunteer trends.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🔐 Settings &amp; API Management</a:t>
            </a:r>
          </a:p>
          <a:p>
            <a:pPr>
              <a:defRPr sz="1500"/>
            </a:pPr>
            <a:r>
              <a:t>   Users can configure their own Gemini API key securely from the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Rounded Rectangle 134"/>
          <p:cNvSpPr/>
          <p:nvPr/>
        </p:nvSpPr>
        <p:spPr>
          <a:xfrm>
            <a:off x="274320" y="2286000"/>
            <a:ext cx="1554480" cy="914400"/>
          </a:xfrm>
          <a:prstGeom prst="roundRect">
            <a:avLst/>
          </a:prstGeom>
          <a:solidFill>
            <a:srgbClr val="14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1. NGO Posts</a:t>
            </a:r>
          </a:p>
          <a:p>
            <a:r>
              <a:t>Urgent Request</a:t>
            </a:r>
          </a:p>
        </p:txBody>
      </p:sp>
      <p:sp>
        <p:nvSpPr>
          <p:cNvPr id="136" name="Right Arrow 135"/>
          <p:cNvSpPr/>
          <p:nvPr/>
        </p:nvSpPr>
        <p:spPr>
          <a:xfrm>
            <a:off x="1920240" y="256032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2377440" y="2286000"/>
            <a:ext cx="1554480" cy="914400"/>
          </a:xfrm>
          <a:prstGeom prst="roundRect">
            <a:avLst/>
          </a:prstGeom>
          <a:solidFill>
            <a:srgbClr val="14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2. Engine Fetches</a:t>
            </a:r>
          </a:p>
          <a:p>
            <a:r>
              <a:t>Vetted Candidates</a:t>
            </a:r>
          </a:p>
        </p:txBody>
      </p:sp>
      <p:sp>
        <p:nvSpPr>
          <p:cNvPr id="138" name="Right Arrow 137"/>
          <p:cNvSpPr/>
          <p:nvPr/>
        </p:nvSpPr>
        <p:spPr>
          <a:xfrm>
            <a:off x="4023360" y="256032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4480560" y="2286000"/>
            <a:ext cx="1554480" cy="914400"/>
          </a:xfrm>
          <a:prstGeom prst="roundRect">
            <a:avLst/>
          </a:prstGeom>
          <a:solidFill>
            <a:srgbClr val="14DC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3. Logistic Regression</a:t>
            </a:r>
          </a:p>
          <a:p>
            <a:r>
              <a:t>Scores Fit</a:t>
            </a:r>
          </a:p>
          <a:p>
            <a:r>
              <a:t>&lt; 500ms ⚡</a:t>
            </a:r>
          </a:p>
        </p:txBody>
      </p:sp>
      <p:sp>
        <p:nvSpPr>
          <p:cNvPr id="140" name="Right Arrow 139"/>
          <p:cNvSpPr/>
          <p:nvPr/>
        </p:nvSpPr>
        <p:spPr>
          <a:xfrm>
            <a:off x="6126480" y="256032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6583680" y="2286000"/>
            <a:ext cx="1737360" cy="914400"/>
          </a:xfrm>
          <a:prstGeom prst="roundRect">
            <a:avLst/>
          </a:prstGeom>
          <a:solidFill>
            <a:srgbClr val="8B5CF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4. Gemini AI</a:t>
            </a:r>
          </a:p>
          <a:p>
            <a:r>
              <a:t>Explains Logic</a:t>
            </a:r>
          </a:p>
          <a:p>
            <a:r>
              <a:t>(Google Gemini 1.5)</a:t>
            </a:r>
          </a:p>
        </p:txBody>
      </p:sp>
      <p:sp>
        <p:nvSpPr>
          <p:cNvPr id="142" name="Down Arrow 141"/>
          <p:cNvSpPr/>
          <p:nvPr/>
        </p:nvSpPr>
        <p:spPr>
          <a:xfrm>
            <a:off x="7680960" y="3291840"/>
            <a:ext cx="365760" cy="36576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6583680" y="3749039"/>
            <a:ext cx="1737360" cy="914400"/>
          </a:xfrm>
          <a:prstGeom prst="round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5. Admin Reviews &amp;</a:t>
            </a:r>
          </a:p>
          <a:p>
            <a:r>
              <a:t>Deploys Volunteer ✓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Automated AI Workflow Pipeline — Sub-500ms End-to-End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TextBox 140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Built with Google AI — End to End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🔵 Google Gemini 1.5 Flash (Core AI Feature)</a:t>
            </a:r>
          </a:p>
          <a:p>
            <a:pPr>
              <a:defRPr sz="1500"/>
            </a:pPr>
            <a:r>
              <a:t>   Every volunteer match generates a transparent, human-readable rationale via the Gemini API.</a:t>
            </a:r>
          </a:p>
          <a:p>
            <a:pPr>
              <a:defRPr sz="1500"/>
            </a:pPr>
            <a:r>
              <a:t>   Turns raw ML probability vectors into clear English for NGO administrators.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🟣 Google Antigravity (AI Development Assistant)</a:t>
            </a:r>
          </a:p>
          <a:p>
            <a:pPr>
              <a:defRPr sz="1500"/>
            </a:pPr>
            <a:r>
              <a:t>   The entire Lapper platform was built collaboratively with Google Antigravity — Google DeepMind's advanced agentic AI coding assistant. Antigravity helped architect the matching engine, debug the Flask REST API, design the premium UI, configure Docker, manage the GitHub CI/CD pipeline, and deploy to Render. This accelerated development from weeks to days — demonstrating how Google AI amplifies developer productivity.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🟡 Google AI Studio</a:t>
            </a:r>
          </a:p>
          <a:p>
            <a:pPr>
              <a:defRPr sz="1500"/>
            </a:pPr>
            <a:r>
              <a:t>   Used for Gemini API key provisioning and prompt engineering &amp; testing.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🟢 Google Cloud Ready</a:t>
            </a:r>
          </a:p>
          <a:p>
            <a:pPr>
              <a:defRPr sz="1500"/>
            </a:pPr>
            <a:r>
              <a:t>   Dockerfile configured for Google Cloud Run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Rounded Rectangle 146"/>
          <p:cNvSpPr/>
          <p:nvPr/>
        </p:nvSpPr>
        <p:spPr>
          <a:xfrm>
            <a:off x="274320" y="1828800"/>
            <a:ext cx="1737360" cy="1371600"/>
          </a:xfrm>
          <a:prstGeom prst="roundRect">
            <a:avLst/>
          </a:prstGeom>
          <a:solidFill>
            <a:srgbClr val="6495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User Browser</a:t>
            </a:r>
          </a:p>
          <a:p>
            <a:r>
              <a:t>(HTML5/CSS/JS</a:t>
            </a:r>
          </a:p>
          <a:p>
            <a:r>
              <a:t>Dashboard)</a:t>
            </a:r>
          </a:p>
        </p:txBody>
      </p:sp>
      <p:sp>
        <p:nvSpPr>
          <p:cNvPr id="148" name="Right Arrow 147"/>
          <p:cNvSpPr/>
          <p:nvPr/>
        </p:nvSpPr>
        <p:spPr>
          <a:xfrm>
            <a:off x="2103120" y="237744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2651760" y="1828800"/>
            <a:ext cx="1828800" cy="1371600"/>
          </a:xfrm>
          <a:prstGeom prst="roundRect">
            <a:avLst/>
          </a:prstGeom>
          <a:solidFill>
            <a:srgbClr val="2E8B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Python Flask</a:t>
            </a:r>
          </a:p>
          <a:p>
            <a:r>
              <a:t>Backend API</a:t>
            </a:r>
          </a:p>
          <a:p>
            <a:r>
              <a:t>(main.py)</a:t>
            </a:r>
          </a:p>
        </p:txBody>
      </p:sp>
      <p:sp>
        <p:nvSpPr>
          <p:cNvPr id="150" name="Down Arrow 149"/>
          <p:cNvSpPr/>
          <p:nvPr/>
        </p:nvSpPr>
        <p:spPr>
          <a:xfrm>
            <a:off x="3474720" y="3291840"/>
            <a:ext cx="274320" cy="4572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2651760" y="3840480"/>
            <a:ext cx="1828800" cy="914400"/>
          </a:xfrm>
          <a:prstGeom prst="roundRect">
            <a:avLst/>
          </a:prstGeom>
          <a:solidFill>
            <a:srgbClr val="6969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SQLite Database</a:t>
            </a:r>
          </a:p>
          <a:p>
            <a:r>
              <a:t>(volunteer_lite.db)</a:t>
            </a:r>
          </a:p>
        </p:txBody>
      </p:sp>
      <p:sp>
        <p:nvSpPr>
          <p:cNvPr id="152" name="Right Arrow 151"/>
          <p:cNvSpPr/>
          <p:nvPr/>
        </p:nvSpPr>
        <p:spPr>
          <a:xfrm>
            <a:off x="4572000" y="237744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5120640" y="1645920"/>
            <a:ext cx="3200400" cy="2286000"/>
          </a:xfrm>
          <a:prstGeom prst="roundRect">
            <a:avLst/>
          </a:prstGeom>
          <a:solidFill>
            <a:srgbClr val="4285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AI Pipeline</a:t>
            </a:r>
          </a:p>
          <a:p>
            <a:r>
              <a:t>(Google Stack)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303520" y="1828800"/>
            <a:ext cx="2743200" cy="822960"/>
          </a:xfrm>
          <a:prstGeom prst="roundRect">
            <a:avLst/>
          </a:prstGeom>
          <a:solidFill>
            <a:srgbClr val="FF14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Gemini 1.5 Flash</a:t>
            </a:r>
          </a:p>
          <a:p>
            <a:r>
              <a:t>(Explainability)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303520" y="2743200"/>
            <a:ext cx="2743200" cy="822960"/>
          </a:xfrm>
          <a:prstGeom prst="round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Scikit-learn</a:t>
            </a:r>
          </a:p>
          <a:p>
            <a:r>
              <a:t>Logistic Regression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5303520" y="3657600"/>
            <a:ext cx="2743200" cy="640080"/>
          </a:xfrm>
          <a:prstGeom prst="roundRect">
            <a:avLst/>
          </a:prstGeom>
          <a:solidFill>
            <a:srgbClr val="8B5C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Antigravity AI</a:t>
            </a:r>
          </a:p>
          <a:p>
            <a:r>
              <a:t>(Built with)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System Architecture — Cloud-Ready Stack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TextBox 15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Core Technologies &amp; Google Integration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Backend: Python 3.11 | Flask REST API | SQLite | Gunicorn</a:t>
            </a:r>
          </a:p>
          <a:p>
            <a:pPr>
              <a:defRPr sz="1500"/>
            </a:pPr>
            <a:r>
              <a:t>Frontend: HTML5, Vanilla CSS, JavaScript | Chart.js | Lucide Icons</a:t>
            </a:r>
          </a:p>
          <a:p>
            <a:pPr>
              <a:defRPr sz="1500"/>
            </a:pPr>
            <a:r>
              <a:t>ML Engine: Scikit-learn (Logistic Regression, StandardScaler Pipeline)</a:t>
            </a:r>
          </a:p>
          <a:p>
            <a:pPr>
              <a:defRPr sz="1500"/>
            </a:pPr>
            <a:r>
              <a:t>Containerization: Docker | Google Cloud Run compatible</a:t>
            </a:r>
          </a:p>
          <a:p>
            <a:pPr>
              <a:defRPr sz="1500"/>
            </a:pPr>
            <a:r>
              <a:t>Hosting: Render.com (Live: google-ai-solution-challenge-smart.onrender.com)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Google Technologies:</a:t>
            </a:r>
          </a:p>
          <a:p>
            <a:pPr lvl="1">
              <a:defRPr sz="1500"/>
            </a:pPr>
            <a:r>
              <a:t>• Google Gemini 1.5 Flash API — Explainable AI rationale generation</a:t>
            </a:r>
          </a:p>
          <a:p>
            <a:pPr lvl="1">
              <a:defRPr sz="1500"/>
            </a:pPr>
            <a:r>
              <a:t>• Google AI Studio — API key management &amp; prompt engineering</a:t>
            </a:r>
          </a:p>
          <a:p>
            <a:pPr lvl="1">
              <a:defRPr sz="1500"/>
            </a:pPr>
            <a:r>
              <a:t>• Google Antigravity — AI-assisted end-to-end development acceleration</a:t>
            </a:r>
          </a:p>
          <a:p>
            <a:pPr lvl="1">
              <a:defRPr sz="1500"/>
            </a:pPr>
            <a:r>
              <a:t>• Google Cloud Run — Production deployment target (Dockerfile included)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GitHub: github.com/nawangdorjay/google-ai-solution-challenge--smart-resource-allocation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Rounded Rectangle 158"/>
          <p:cNvSpPr/>
          <p:nvPr/>
        </p:nvSpPr>
        <p:spPr>
          <a:xfrm>
            <a:off x="365760" y="1828800"/>
            <a:ext cx="2560320" cy="2743200"/>
          </a:xfrm>
          <a:prstGeom prst="roundRect">
            <a:avLst/>
          </a:prstGeom>
          <a:solidFill>
            <a:srgbClr val="14DCB4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00000"/>
                </a:solidFill>
              </a:defRPr>
            </a:pPr>
            <a:r>
              <a:t>Phase 1 — NOW</a:t>
            </a:r>
          </a:p>
          <a:p>
            <a:pPr algn="ctr">
              <a:defRPr sz="1300">
                <a:solidFill>
                  <a:srgbClr val="000000"/>
                </a:solidFill>
              </a:defRPr>
            </a:pPr>
            <a:r>
              <a:t>✅ MVP Live</a:t>
            </a:r>
          </a:p>
          <a:p>
            <a:pPr algn="ctr">
              <a:defRPr sz="1300">
                <a:solidFill>
                  <a:srgbClr val="000000"/>
                </a:solidFill>
              </a:defRPr>
            </a:pPr>
            <a:r>
              <a:t>Logistic Regression</a:t>
            </a:r>
          </a:p>
          <a:p>
            <a:pPr algn="ctr">
              <a:defRPr sz="1300">
                <a:solidFill>
                  <a:srgbClr val="000000"/>
                </a:solidFill>
              </a:defRPr>
            </a:pPr>
            <a:r>
              <a:t>Gemini Explainability</a:t>
            </a:r>
          </a:p>
          <a:p>
            <a:pPr algn="ctr">
              <a:defRPr sz="1300">
                <a:solidFill>
                  <a:srgbClr val="000000"/>
                </a:solidFill>
              </a:defRPr>
            </a:pPr>
            <a:r>
              <a:t>Flask API + SQLite</a:t>
            </a:r>
          </a:p>
          <a:p>
            <a:pPr algn="ctr">
              <a:defRPr sz="1300">
                <a:solidFill>
                  <a:srgbClr val="000000"/>
                </a:solidFill>
              </a:defRPr>
            </a:pPr>
            <a:r>
              <a:t>Docker + Render Deploy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200400" y="1828800"/>
            <a:ext cx="2560320" cy="2743200"/>
          </a:xfrm>
          <a:prstGeom prst="roundRect">
            <a:avLst/>
          </a:prstGeom>
          <a:solidFill>
            <a:srgbClr val="3B82F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Phase 2 — 3 Months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🔄 Scale Up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Vertex AI AutoML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Real-time GPS tracking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Firebase Auth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Mobile-Responsive PWA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035040" y="1828800"/>
            <a:ext cx="2560320" cy="2743200"/>
          </a:xfrm>
          <a:prstGeom prst="roundRect">
            <a:avLst/>
          </a:prstGeom>
          <a:solidFill>
            <a:srgbClr val="8B5CF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Phase 3 — 6 Months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🚀 Production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Multi-language Gemini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Native Mobile App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NGO Analytics Suite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Government API Integrations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Product Roadmap — Path to Impact at Scale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TextBox 164"/>
          <p:cNvSpPr txBox="1"/>
          <p:nvPr/>
        </p:nvSpPr>
        <p:spPr>
          <a:xfrm>
            <a:off x="457200" y="4572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Live MVP Snapshots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🌐 Live App: https://google-ai-solution-challenge-smart.onrender.com</a:t>
            </a:r>
          </a:p>
          <a:p>
            <a:pPr>
              <a:defRPr sz="1300"/>
            </a:pPr>
            <a:r>
              <a:t>💻 GitHub:   https://github.com/nawangdorjay/google-ai-solution-challenge--smart-resource-allocation</a:t>
            </a:r>
          </a:p>
        </p:txBody>
      </p:sp>
      <p:pic>
        <p:nvPicPr>
          <p:cNvPr id="166" name="Picture 165" descr="click_feedback_17769673143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3840480" cy="2139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